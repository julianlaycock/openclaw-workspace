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Caelith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engine for EU fund managers.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 · February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www.caelith.tech/landing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A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 days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AIFMD II enforcement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April 16, 2026, every EU alternative investment fund manager must comply with AIFMD II — the most significant regulatory overhaul in a decade.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Non-compliance isn't a risk. It's a fine.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Directive (EU) 2024/927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today is manual,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expensive, and broken.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€180,000/year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cost of manual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for a single AIFM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2336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2–4 weeks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023360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complete one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cycle manually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EU fund managers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unprepared for AIFMD II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managers juggle spreadsheets, email chains, and consultants charging €1,500/day — for processes that should take minutes, not months.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€2.3B market with a hard deadline.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8686800" cy="640080"/>
          </a:xfrm>
          <a:prstGeom prst="roundRect">
            <a:avLst>
              <a:gd name="adj" fmla="val 7143"/>
            </a:avLst>
          </a:prstGeom>
          <a:solidFill>
            <a:srgbClr val="D0D5D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· €2.3B — EU regulatory technology market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C5E0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 · €680M — AIF compliance &amp; reporting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2D33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· €45M — German AIFMs (Year 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3,500+ licensed AIFMs in the EU. 890+ in Germany alone.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ESMA AIFMD Statistical Report 2024, Deloitte RegTech Market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Caelith automates AIFMD II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end-to-end.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3A4444"/>
          </a:solidFill>
          <a:ln w="6350">
            <a:solidFill>
              <a:srgbClr val="4A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247 rules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compliance rules across 6 regulatory frameworks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2194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3A4444"/>
          </a:solidFill>
          <a:ln w="6350">
            <a:solidFill>
              <a:srgbClr val="4A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&lt;23ms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0" y="2743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rule evaluation time. Real-time, not batch.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3A4444"/>
          </a:solidFill>
          <a:ln w="6350">
            <a:solidFill>
              <a:srgbClr val="4A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Hash-chained proof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389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cryptographically linked. Tamper-evident audit trail.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3840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3A4444"/>
          </a:solidFill>
          <a:ln w="6350">
            <a:solidFill>
              <a:srgbClr val="4A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One-click reporting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4389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IV, AIFMD II disclosures, cross-border filings. PDF, XML, XBRL.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the live product → www.caelith.tech/landing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steps to audit-ready.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fund structure. Auto-detect applicable frameworks across 6 jurisdictions.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918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30175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every investor against 247 rules. Real-time. Under 23ms.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521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30175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 every decision. Tamper-proof. Regulator-ready.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124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30175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Annex IV, AIFMD II disclosures. One click. Export PDF/XML/XBRL.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window is open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closing fast.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9601200" cy="0"/>
          </a:xfrm>
          <a:prstGeom prst="line">
            <a:avLst/>
          </a:prstGeom>
          <a:noFill/>
          <a:ln w="19050">
            <a:solidFill>
              <a:srgbClr val="4A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228600" cy="228600"/>
          </a:xfrm>
          <a:prstGeom prst="ellipse">
            <a:avLst/>
          </a:prstGeom>
          <a:solidFill>
            <a:srgbClr val="4A55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AIFMD II directive published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2560320"/>
            <a:ext cx="228600" cy="228600"/>
          </a:xfrm>
          <a:prstGeom prst="ellipse">
            <a:avLst/>
          </a:prstGeom>
          <a:solidFill>
            <a:srgbClr val="4A55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states begin transposition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2560320"/>
            <a:ext cx="228600" cy="228600"/>
          </a:xfrm>
          <a:prstGeom prst="ellipse">
            <a:avLst/>
          </a:prstGeom>
          <a:solidFill>
            <a:srgbClr val="4A5555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Caelith launches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2560320"/>
            <a:ext cx="228600" cy="2286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 16,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DEADLINE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2560320"/>
            <a:ext cx="228600" cy="228600"/>
          </a:xfrm>
          <a:prstGeom prst="ellipse">
            <a:avLst/>
          </a:prstGeom>
          <a:solidFill>
            <a:srgbClr val="4A5555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Caelith scales across EU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closer to April 16 increases urgency — and willingness to pay.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Purpose-built, not bolted on.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/ SaaS ↑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/ Consulting ↓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 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AIF-Specific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3657600" cy="1828800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463040"/>
            <a:ext cx="3657600" cy="1828800"/>
          </a:xfrm>
          <a:prstGeom prst="rect">
            <a:avLst/>
          </a:prstGeom>
          <a:solidFill>
            <a:srgbClr val="2D3333"/>
          </a:solidFill>
          <a:ln w="6350">
            <a:solidFill>
              <a:srgbClr val="4A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3291840"/>
            <a:ext cx="36576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3291840"/>
            <a:ext cx="36576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7373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Suade Labs, Regnology, Apiax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but generic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A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Caelith 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A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 player: AIF specialization +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A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automation + crypto proof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566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4 Consulting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€150-200K/yr, manual, generic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566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compliance firms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AIF-aware but slow, unscalable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AIF specialization with full automation and cryptographic proof.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with built-in expansion.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€299/mo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fund, 100 investors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14630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2D3333"/>
          </a:solidFill>
          <a:ln w="6350">
            <a:solidFill>
              <a:srgbClr val="2D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A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€799/mo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funds, unlimited investors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ACV: €9,588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4630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8952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Unlimited, on-premise,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50x cost advantage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€3,588 entry ACV vs €180,000 manual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expand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fund → grow with AUM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130%+ NRR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scope only increases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built. Pilots launching.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Working product (247 rules, 6 frameworks, hash-chained audit trail)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at www.caelith.tech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119+ commits, 51 passing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EU-hosted infrastructure (Frankfurt)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18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— Launch pilot (3-5 German AIFMs)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— First paying customers, hire CTO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— Expand to Benelux + Luxembourg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 — SOC 2 Type II + ISO 27001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— Series A readiness, 50+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 expert. Builder. Operator.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Julian Laycock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B. of Laws · B.Sc. Economics · MBA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 years consulting: Capgemini &amp; init AG (Berlin) — enterprise compliance &amp; digital transformation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years Wissenschaftlicher Mitarbeiter, HWR Berlin — regulatory research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Self-taught engineer: Python, data analytics, full-stack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Built Caelith end-to-end: product, engineering, compliance logic, go-to-market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30352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3A4444"/>
          </a:solidFill>
          <a:ln w="6350">
            <a:solidFill>
              <a:srgbClr val="4A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303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Seeking: Technical co-founder / CTO as first hire.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combination of legal domain expertise, business acumen, and technical ability. Built a working product solo — now ready to scale the team.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€400K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to prove product-market fit.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Technical Co-founder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2240280"/>
            <a:ext cx="5486400" cy="320040"/>
          </a:xfrm>
          <a:prstGeom prst="roundRect">
            <a:avLst>
              <a:gd name="adj" fmla="val 8571"/>
            </a:avLst>
          </a:prstGeom>
          <a:solidFill>
            <a:srgbClr val="C5E0EE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€140K (35%)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salary (18 mo)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3918857" cy="320040"/>
          </a:xfrm>
          <a:prstGeom prst="roundRect">
            <a:avLst>
              <a:gd name="adj" fmla="val 8571"/>
            </a:avLst>
          </a:prstGeom>
          <a:solidFill>
            <a:srgbClr val="C5E0EE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€100K (25%)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 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246120"/>
            <a:ext cx="2351314" cy="320040"/>
          </a:xfrm>
          <a:prstGeom prst="roundRect">
            <a:avLst>
              <a:gd name="adj" fmla="val 8571"/>
            </a:avLst>
          </a:prstGeom>
          <a:solidFill>
            <a:srgbClr val="C5E0EE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€60K (15%)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+ ISO 27001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3749040"/>
            <a:ext cx="1959429" cy="320040"/>
          </a:xfrm>
          <a:prstGeom prst="roundRect">
            <a:avLst>
              <a:gd name="adj" fmla="val 8571"/>
            </a:avLst>
          </a:prstGeom>
          <a:solidFill>
            <a:srgbClr val="C5E0EE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€50K (12.5%)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Infra, legal &amp; buffer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4251960"/>
            <a:ext cx="1959429" cy="320040"/>
          </a:xfrm>
          <a:prstGeom prst="roundRect">
            <a:avLst>
              <a:gd name="adj" fmla="val 8571"/>
            </a:avLst>
          </a:prstGeom>
          <a:solidFill>
            <a:srgbClr val="C5E0E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€50K (12.5%)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212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pilot customers live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5212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 customers,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onboarded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5212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customers,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+ ISO 27001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5212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ready, 30+ customers,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€300K+ ARR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hello@caelith.tech · www.caelith.tech/landing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Caelith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Caelith — Pre-Seed Pitch Deck</dc:title>
  <dc:subject>PptxGenJS Presentation</dc:subject>
  <dc:creator>Caelith</dc:creator>
  <cp:lastModifiedBy>Caelith</cp:lastModifiedBy>
  <cp:revision>1</cp:revision>
  <dcterms:created xsi:type="dcterms:W3CDTF">2026-02-18T11:32:36Z</dcterms:created>
  <dcterms:modified xsi:type="dcterms:W3CDTF">2026-02-18T11:32:36Z</dcterms:modified>
</cp:coreProperties>
</file>